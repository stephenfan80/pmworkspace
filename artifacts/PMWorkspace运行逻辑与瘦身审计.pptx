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1b784088c6541f1" /><Relationship Type="http://schemas.openxmlformats.org/officeDocument/2006/relationships/extended-properties" Target="/docProps/app.xml" Id="R845115d79ca84e83" /><Relationship Type="http://schemas.openxmlformats.org/officeDocument/2006/relationships/officeDocument" Target="/ppt/presentation.xml" Id="R8cafbbb407254e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77de3722144360"/>
  </p:sldMasterIdLst>
  <p:notesMasterIdLst>
    <p:notesMasterId xmlns:r="http://schemas.openxmlformats.org/officeDocument/2006/relationships" r:id="R40f7d2e8e4b04c8c"/>
  </p:notesMasterIdLst>
  <p:sldIdLst>
    <p:sldId xmlns:r="http://schemas.openxmlformats.org/officeDocument/2006/relationships" id="256" r:id="R5070f5a2f951467e"/>
    <p:sldId xmlns:r="http://schemas.openxmlformats.org/officeDocument/2006/relationships" id="257" r:id="R9893e7902c4247d4"/>
    <p:sldId xmlns:r="http://schemas.openxmlformats.org/officeDocument/2006/relationships" id="258" r:id="Rb8f8bea4a4ad4cb7"/>
    <p:sldId xmlns:r="http://schemas.openxmlformats.org/officeDocument/2006/relationships" id="259" r:id="Rfaf0cd4b9bf84054"/>
    <p:sldId xmlns:r="http://schemas.openxmlformats.org/officeDocument/2006/relationships" id="260" r:id="Rbaf27df953e44e2e"/>
    <p:sldId xmlns:r="http://schemas.openxmlformats.org/officeDocument/2006/relationships" id="261" r:id="R49e3dbe73e7b474e"/>
    <p:sldId xmlns:r="http://schemas.openxmlformats.org/officeDocument/2006/relationships" id="262" r:id="R807f7fb0fe5947c8"/>
    <p:sldId xmlns:r="http://schemas.openxmlformats.org/officeDocument/2006/relationships" id="263" r:id="R264b83a72e0043ad"/>
    <p:sldId xmlns:r="http://schemas.openxmlformats.org/officeDocument/2006/relationships" id="264" r:id="R5f7f672f839e4c57"/>
    <p:sldId xmlns:r="http://schemas.openxmlformats.org/officeDocument/2006/relationships" id="265" r:id="Rdccf33bfe5654a94"/>
    <p:sldId xmlns:r="http://schemas.openxmlformats.org/officeDocument/2006/relationships" id="266" r:id="R5cb2b2ee7a8541d4"/>
    <p:sldId xmlns:r="http://schemas.openxmlformats.org/officeDocument/2006/relationships" id="267" r:id="R9e321380df0c41ec"/>
    <p:sldId xmlns:r="http://schemas.openxmlformats.org/officeDocument/2006/relationships" id="268" r:id="R6932c689e2294461"/>
    <p:sldId xmlns:r="http://schemas.openxmlformats.org/officeDocument/2006/relationships" id="269" r:id="Re21208581faf461f"/>
    <p:sldId xmlns:r="http://schemas.openxmlformats.org/officeDocument/2006/relationships" id="270" r:id="R59389244b074430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77de3722144360" /><Relationship Type="http://schemas.openxmlformats.org/officeDocument/2006/relationships/theme" Target="/ppt/theme/theme1.xml" Id="R776d4caf355b4afb" /><Relationship Type="http://schemas.openxmlformats.org/officeDocument/2006/relationships/notesMaster" Target="/ppt/notesMasters/notesMaster1.xml" Id="R40f7d2e8e4b04c8c" /><Relationship Type="http://schemas.openxmlformats.org/officeDocument/2006/relationships/presProps" Target="/ppt/presProps.xml" Id="Rdbe7f784737b4991" /><Relationship Type="http://schemas.openxmlformats.org/officeDocument/2006/relationships/viewProps" Target="/ppt/viewProps.xml" Id="R8be110120a3143c3" /><Relationship Type="http://schemas.openxmlformats.org/officeDocument/2006/relationships/tableStyles" Target="/ppt/tableStyles.xml" Id="R669b66b478ae4edb" /><Relationship Type="http://schemas.openxmlformats.org/officeDocument/2006/relationships/slide" Target="/ppt/slides/slide1.xml" Id="R5070f5a2f951467e" /><Relationship Type="http://schemas.openxmlformats.org/officeDocument/2006/relationships/slide" Target="/ppt/slides/slide2.xml" Id="R9893e7902c4247d4" /><Relationship Type="http://schemas.openxmlformats.org/officeDocument/2006/relationships/slide" Target="/ppt/slides/slide3.xml" Id="Rb8f8bea4a4ad4cb7" /><Relationship Type="http://schemas.openxmlformats.org/officeDocument/2006/relationships/slide" Target="/ppt/slides/slide4.xml" Id="Rfaf0cd4b9bf84054" /><Relationship Type="http://schemas.openxmlformats.org/officeDocument/2006/relationships/slide" Target="/ppt/slides/slide5.xml" Id="Rbaf27df953e44e2e" /><Relationship Type="http://schemas.openxmlformats.org/officeDocument/2006/relationships/slide" Target="/ppt/slides/slide6.xml" Id="R49e3dbe73e7b474e" /><Relationship Type="http://schemas.openxmlformats.org/officeDocument/2006/relationships/slide" Target="/ppt/slides/slide7.xml" Id="R807f7fb0fe5947c8" /><Relationship Type="http://schemas.openxmlformats.org/officeDocument/2006/relationships/slide" Target="/ppt/slides/slide8.xml" Id="R264b83a72e0043ad" /><Relationship Type="http://schemas.openxmlformats.org/officeDocument/2006/relationships/slide" Target="/ppt/slides/slide9.xml" Id="R5f7f672f839e4c57" /><Relationship Type="http://schemas.openxmlformats.org/officeDocument/2006/relationships/slide" Target="/ppt/slides/slide10.xml" Id="Rdccf33bfe5654a94" /><Relationship Type="http://schemas.openxmlformats.org/officeDocument/2006/relationships/slide" Target="/ppt/slides/slide11.xml" Id="R5cb2b2ee7a8541d4" /><Relationship Type="http://schemas.openxmlformats.org/officeDocument/2006/relationships/slide" Target="/ppt/slides/slide12.xml" Id="R9e321380df0c41ec" /><Relationship Type="http://schemas.openxmlformats.org/officeDocument/2006/relationships/slide" Target="/ppt/slides/slide13.xml" Id="R6932c689e2294461" /><Relationship Type="http://schemas.openxmlformats.org/officeDocument/2006/relationships/slide" Target="/ppt/slides/slide14.xml" Id="Re21208581faf461f" /><Relationship Type="http://schemas.openxmlformats.org/officeDocument/2006/relationships/slide" Target="/ppt/slides/slide15.xml" Id="R59389244b074430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bf0f1f2c25a46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af22b129e6406f" /><Relationship Type="http://schemas.openxmlformats.org/officeDocument/2006/relationships/notesMaster" Target="/ppt/notesMasters/notesMaster1.xml" Id="Ra918c984b54749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abbaf4f7055487c" /><Relationship Type="http://schemas.openxmlformats.org/officeDocument/2006/relationships/notesMaster" Target="/ppt/notesMasters/notesMaster1.xml" Id="R4288d20e5c6247a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42468a8081049db" /><Relationship Type="http://schemas.openxmlformats.org/officeDocument/2006/relationships/notesMaster" Target="/ppt/notesMasters/notesMaster1.xml" Id="R59aed035e0124f0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02e15a6ebca41bc" /><Relationship Type="http://schemas.openxmlformats.org/officeDocument/2006/relationships/notesMaster" Target="/ppt/notesMasters/notesMaster1.xml" Id="R9b521975c8b043a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d49378555174aca" /><Relationship Type="http://schemas.openxmlformats.org/officeDocument/2006/relationships/notesMaster" Target="/ppt/notesMasters/notesMaster1.xml" Id="Rcc07fafc9a6c47e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2c3d971ecf241e8" /><Relationship Type="http://schemas.openxmlformats.org/officeDocument/2006/relationships/notesMaster" Target="/ppt/notesMasters/notesMaster1.xml" Id="Rde8e1fcf19c2460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b3fad725dcc43f4" /><Relationship Type="http://schemas.openxmlformats.org/officeDocument/2006/relationships/notesMaster" Target="/ppt/notesMasters/notesMaster1.xml" Id="R410ec41ed899493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9fcbed18b694de3" /><Relationship Type="http://schemas.openxmlformats.org/officeDocument/2006/relationships/notesMaster" Target="/ppt/notesMasters/notesMaster1.xml" Id="Rd0a5da375fc8440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0ec478cb6184e13" /><Relationship Type="http://schemas.openxmlformats.org/officeDocument/2006/relationships/notesMaster" Target="/ppt/notesMasters/notesMaster1.xml" Id="R0e12ea89a7c0445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1e217b2f44d4bb7" /><Relationship Type="http://schemas.openxmlformats.org/officeDocument/2006/relationships/notesMaster" Target="/ppt/notesMasters/notesMaster1.xml" Id="R75792a04437e439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58f22fecb414800" /><Relationship Type="http://schemas.openxmlformats.org/officeDocument/2006/relationships/notesMaster" Target="/ppt/notesMasters/notesMaster1.xml" Id="Rbfb9a862ecb0419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2b25dd2ff4e4abd" /><Relationship Type="http://schemas.openxmlformats.org/officeDocument/2006/relationships/notesMaster" Target="/ppt/notesMasters/notesMaster1.xml" Id="Rb75e1ea39031403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9cbaf359b554a03" /><Relationship Type="http://schemas.openxmlformats.org/officeDocument/2006/relationships/notesMaster" Target="/ppt/notesMasters/notesMaster1.xml" Id="R51845a92e4a5465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7c85e5950334214" /><Relationship Type="http://schemas.openxmlformats.org/officeDocument/2006/relationships/notesMaster" Target="/ppt/notesMasters/notesMaster1.xml" Id="Rd81c2e0bcdba4f0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5704757855c4ef4" /><Relationship Type="http://schemas.openxmlformats.org/officeDocument/2006/relationships/notesMaster" Target="/ppt/notesMasters/notesMaster1.xml" Id="Rd978113a8fd04b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这份讲解不是用户侧宣传稿，而是维护者视角的系统地图。PMWorkspace 的定位已经从“帮我出一张原型图”升级成“产品方案工作台”：它要先把产品价值判断、事实边界和关键取舍跑通，再把这些判断交给 image-2 原型、复审和交付链路。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PMWorkspace 的核心约束是“快速成型，深度交付”。快速成型允许基于假设出轻量包，但要标明假设和反指标；深度交付则必须先完成产品发现、简报确认、准备度检查，再进入图片或 PRD。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主链路来自 pm-workbench-map.md：入口路由、自动评审、产品价值澄清、策略审查、产品简报、原型方案、原型复审、产品交付，再加运行、产物流动与记忆。关键不是一次跑完，而是只推进到当前最早可靠门槛。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$pm-workspace 只负责判断快速成型还是深度交付，并创建或复用 runtime run。它不是第二份业务规则表。入口输出必须让用户看到当前模式、为什么这么判定、当前一步和下一步。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$pm-autoplan 的职责是串联推荐链路，但只推进到最早门槛。深度交付的顺序是工作目标、产品价值判断、多轮 Q、多轮 D、前提确认、产品经理简报、本地保存、Zoon A/B 推荐、原型或交付准备度。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pmw-discovery-gate 是关键硬门槛。它要求深度交付或线上功能优化在进入简报前覆盖五个维度。Q 补事实，D 拍取舍；一个 Q 加一个 D 不能代表产品发现完成。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当前源头规则已经把 $pm-brief 定义成 1-2 页产品经理简报。它要先给核心价值判断，再写现状、用户、痛点、替代、竞品、解决思路、指标和约束。审计字段不应挤进业务正文。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Zoon 的正确模型是 local-first、Zoon-optional。本地 Markdown 保存成功后，系统必须推荐 Zoon 的协作价值，但不能自动同步，必须让用户选 A/B。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$pm-prototype-shotgun 是 image-2 出图导演，而不是产品判断补写器。每个输出单元等于一张图：一个方案、一个屏幕任务、一个主目标、一个反指标和明确不可虚构项。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长板失败的根因是 prompt 里仍残留 402 x 874、H874 或标准首屏这类短画布锚点。有生产截图或 visual_baseline 时，必须走 physical_longboard，并写参考图物理尺寸和目标输出像素。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$pm-prototype-review 先检查输出单元绑定，再用策略、信任 / 风险、设计系统、数据可行性四个专家给短结论。好看不能覆盖 brief、反指标、不可虚构项或尺寸审计失败。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系统真正可靠的地方不在 skill 长文案，而在运行时脚本：pmw-run、pmw-log、pmw-artifact、pmw-dashboard、pmw-prototype-board、pmw-prototype-prompt-check 和 pmw-image-audit。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共享契约由 manifest 生成，行为回归靠 pmw-eval fixtures。发布链路是：改 source，检查生成契约，跑 eval，再用 pmw-build-plugin 同步到插件副本。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这次审计发现的核心不是规则不够，而是规则太分散、太重复。README 有旧口径，长板规则多处重复，pm-eval-system 规则密度过高。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建议两阶段：先修明显矛盾，再合并重复真源。第一阶段处理 README 和入口文档；第二阶段收敛长板、产品简报、discovery 和 eval 的真源。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da2215cb894615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4cdfc5f192e431a" /><Relationship Type="http://schemas.openxmlformats.org/officeDocument/2006/relationships/slideLayout" Target="/ppt/slideLayouts/slideLayout2.xml" Id="Rcfec99d90f08425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ec99d90f08425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feac0a29b44847" /><Relationship Type="http://schemas.openxmlformats.org/officeDocument/2006/relationships/notesSlide" Target="/ppt/notesSlides/notesSlide1.xml" Id="R438ce568721e4a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da44cfa387416c" /><Relationship Type="http://schemas.openxmlformats.org/officeDocument/2006/relationships/notesSlide" Target="/ppt/notesSlides/notesSlide2.xml" Id="R29a16860c6af4f8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392bb676cc43cc" /><Relationship Type="http://schemas.openxmlformats.org/officeDocument/2006/relationships/notesSlide" Target="/ppt/notesSlides/notesSlide3.xml" Id="R48c9a4846c15443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da4ab03d6e47ca" /><Relationship Type="http://schemas.openxmlformats.org/officeDocument/2006/relationships/notesSlide" Target="/ppt/notesSlides/notesSlide4.xml" Id="R5a3b39a4e956409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7d667d90674ad2" /><Relationship Type="http://schemas.openxmlformats.org/officeDocument/2006/relationships/notesSlide" Target="/ppt/notesSlides/notesSlide5.xml" Id="R9b06be719a0b4de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4d0d8fef814d1c" /><Relationship Type="http://schemas.openxmlformats.org/officeDocument/2006/relationships/notesSlide" Target="/ppt/notesSlides/notesSlide6.xml" Id="R6a7b667b2d5c409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ed301b070046cc" /><Relationship Type="http://schemas.openxmlformats.org/officeDocument/2006/relationships/notesSlide" Target="/ppt/notesSlides/notesSlide7.xml" Id="Rca9c7227ae95457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c81c5c37364184" /><Relationship Type="http://schemas.openxmlformats.org/officeDocument/2006/relationships/notesSlide" Target="/ppt/notesSlides/notesSlide8.xml" Id="R6af2aa042bff431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ae94b3890d4b1a" /><Relationship Type="http://schemas.openxmlformats.org/officeDocument/2006/relationships/notesSlide" Target="/ppt/notesSlides/notesSlide9.xml" Id="R431d04f67e21476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d63594911641dd" /><Relationship Type="http://schemas.openxmlformats.org/officeDocument/2006/relationships/notesSlide" Target="/ppt/notesSlides/notesSlide10.xml" Id="Rcae6635bda494e8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327637a7f147fd" /><Relationship Type="http://schemas.openxmlformats.org/officeDocument/2006/relationships/notesSlide" Target="/ppt/notesSlides/notesSlide11.xml" Id="R55a52904cf15454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1bd81337054650" /><Relationship Type="http://schemas.openxmlformats.org/officeDocument/2006/relationships/notesSlide" Target="/ppt/notesSlides/notesSlide12.xml" Id="Ra3784262d2b843b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89af55b43145f6" /><Relationship Type="http://schemas.openxmlformats.org/officeDocument/2006/relationships/notesSlide" Target="/ppt/notesSlides/notesSlide13.xml" Id="Rb3c154c22cb2401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179ba114c44f2e" /><Relationship Type="http://schemas.openxmlformats.org/officeDocument/2006/relationships/notesSlide" Target="/ppt/notesSlides/notesSlide14.xml" Id="R3b09020fa25c44d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eb5aac44c94653" /><Relationship Type="http://schemas.openxmlformats.org/officeDocument/2006/relationships/notesSlide" Target="/ppt/notesSlides/notesSlide15.xml" Id="R47549121fb1c4ee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77F95D-514D-43B3-A036-CDB09E86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F7F8F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CF8590-EC7F-4D89-9A02-3858E824D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ADD010-34E4-48AC-833D-EC5A39F81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F172A"/>
              </a:gs>
              <a:gs pos="56000">
                <a:srgbClr val="13233F"/>
              </a:gs>
              <a:gs pos="100000">
                <a:srgbClr val="1F2937"/>
              </a:gs>
            </a:gsLst>
            <a:lin ang="8100000"/>
          </a:gra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DF24E0-6C0B-4F94-943A-8EA074DEB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3C5FD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93C5FD"/>
                </a:solidFill>
                <a:latin typeface="Aptos Display"/>
                <a:ea typeface="Aptos Display"/>
                <a:cs typeface="Aptos Display"/>
              </a:rPr>
              <a:t>PMWORKSPACE MAINTAINER BRIEF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6BDC62-6A02-4397-938C-78B497EF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7429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运行逻辑与瘦身审计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48F8A1-6121-4AA5-A657-88B6BD77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781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从产品发现、简报、原型、复审、交付到插件发布的维护者视角讲解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CEFF2B-5FCC-472B-B091-39159F91A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10287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0A5F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AD83A4-FDFA-41E0-BA32-2F51910F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432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0A5FA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60A5FA"/>
                </a:solidFill>
                <a:latin typeface="Aptos Display"/>
                <a:ea typeface="Aptos Display"/>
                <a:cs typeface="Aptos Display"/>
              </a:rPr>
              <a:t>主链路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459601-00D4-4537-8264-9AEF2C9B3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876550"/>
            <a:ext cx="10287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FC5BCB-8373-4964-B7BE-AC3DF571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9432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D399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34D399"/>
                </a:solidFill>
                <a:latin typeface="Aptos Display"/>
                <a:ea typeface="Aptos Display"/>
                <a:cs typeface="Aptos Display"/>
              </a:rPr>
              <a:t>硬门槛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82DC73-54A9-47DB-B568-F088A441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876550"/>
            <a:ext cx="10287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B923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F5F061-622C-47ED-9EA0-EB15E9F89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432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B923C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B923C"/>
                </a:solidFill>
                <a:latin typeface="Aptos Display"/>
                <a:ea typeface="Aptos Display"/>
                <a:cs typeface="Aptos Display"/>
              </a:rPr>
              <a:t>漂移风险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3872F4-BB83-4A6E-9270-9A13D434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76550"/>
            <a:ext cx="10287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FE9DB3-D0E5-4773-8BDF-8A291EDC0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9432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78BFA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A78BFA"/>
                </a:solidFill>
                <a:latin typeface="Aptos Display"/>
                <a:ea typeface="Aptos Display"/>
                <a:cs typeface="Aptos Display"/>
              </a:rPr>
              <a:t>删减判断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8079B8-78BE-4166-A1BC-DADB5E0B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14750"/>
            <a:ext cx="3429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3AA9E6-F350-4AE6-86CC-BB07006AB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14750"/>
            <a:ext cx="57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0F5485-B5FD-40BB-B7A4-8AB1B5DE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86200"/>
            <a:ext cx="3086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97316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97316"/>
                </a:solidFill>
                <a:latin typeface="Aptos Display"/>
                <a:ea typeface="Aptos Display"/>
                <a:cs typeface="Aptos Display"/>
              </a:rPr>
              <a:t>核心判断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4DE9D5-713E-4CC4-A0F1-15A2628A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48150"/>
            <a:ext cx="3086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系统失败通常不是少一条说明，而是说明太多、真源分散、运行时没有硬挡。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CCB2AB-01E6-4FAE-BCCF-9FCCFB67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484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2026-05-09</a:t>
            </a:r>
          </a:p>
        </p:txBody>
      </p:sp>
    </p:spTree>
    <p:extLst>
      <p:ext uri="{BB962C8B-B14F-4D97-AF65-F5344CB8AC3E}">
        <p14:creationId xmlns:p14="http://schemas.microsoft.com/office/powerpoint/2010/main" val="110339060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41C5AB-76F8-465E-BB68-037D6FE5E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F7F8F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7AD08C-CE45-4929-A823-C042914E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SYSTEM POSITIONING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2D2C27-9271-4FA9-B521-D8A943036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不是原型捷径，而是产品判断流水线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04433B-BCC7-4DC0-9019-544596C8A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876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快速成型可以快；深度交付必须先把事实、取舍和边界跑通。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C79C39-7195-4284-B299-37953896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9EF"/>
          </a:solidFill>
          <a:ln xmlns:a="http://schemas.openxmlformats.org/drawingml/2006/main" w="0">
            <a:solidFill>
              <a:srgbClr val="E6E9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57B504-A4CA-41B1-8EAC-4D9A4B046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94A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4A3"/>
                </a:solidFill>
                <a:latin typeface="Aptos"/>
                <a:ea typeface="Aptos"/>
                <a:cs typeface="Aptos"/>
              </a:rPr>
              <a:t>PMWorkspace 运行逻辑与瘦身审计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58141A-0550-4A24-8AED-0F4A60F2A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A94A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4A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5314AC-6319-4462-B099-8B925D151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3238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37A32F-EF60-434D-B4BD-3A3C3480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5C25E4-AF1B-4F95-ADDC-5329A8FD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2895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B981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0B981"/>
                </a:solidFill>
                <a:latin typeface="Aptos Display"/>
                <a:ea typeface="Aptos Display"/>
                <a:cs typeface="Aptos Display"/>
              </a:rPr>
              <a:t>快速成型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D132D6-4073-4010-8F07-7E595BB27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33650"/>
            <a:ext cx="28956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面向新 idea 和轻量讨论。可以基于假设推进，但必须标记“基于假设，可讨论”，出图前要得到用户确认。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4D2441-3B84-42AE-802C-DB69D07A9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00250"/>
            <a:ext cx="3238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61CB4B-6419-4E3A-9872-585E93ED6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0025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490108-15D1-4DF6-BAB0-E2EC12589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71700"/>
            <a:ext cx="2895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深度交付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3BFB88-9696-43A4-90EB-1E1710FB8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33650"/>
            <a:ext cx="28956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面向线上功能、线索 / 交易 / 价格、研发交付和高风险承诺。必须完成 discovery gate、brief gate、readiness gate。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25F5A0-624F-4EEB-A593-C7212E309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00250"/>
            <a:ext cx="3238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F64978-0E02-48D5-AD78-2208251A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0025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EF444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F4D975-68DF-47A4-811D-372057BA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71700"/>
            <a:ext cx="2895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F4444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EF4444"/>
                </a:solidFill>
                <a:latin typeface="Aptos Display"/>
                <a:ea typeface="Aptos Display"/>
                <a:cs typeface="Aptos Display"/>
              </a:rPr>
              <a:t>共同底线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C777A1-DA64-4EEE-9CC0-047E5E848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33650"/>
            <a:ext cx="28956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不能把功能愿望直接画成可信方案；不能用漂亮图片覆盖事实缺口；不能让 Zoon 或截图状态漂移。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59A703-ECEC-48EF-949B-5F2976A7E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19650"/>
            <a:ext cx="895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维护者要守住的是“产品判断连续性”，不是让每个 skill 背更多文字。</a:t>
            </a:r>
          </a:p>
        </p:txBody>
      </p:sp>
    </p:spTree>
    <p:extLst>
      <p:ext uri="{BB962C8B-B14F-4D97-AF65-F5344CB8AC3E}">
        <p14:creationId xmlns:p14="http://schemas.microsoft.com/office/powerpoint/2010/main" val="37151837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40D0B4-AC91-4FEA-92FD-54ED6690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F7F8F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40DB38-8DB3-4330-B703-18FA36196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END TO END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143FD0-FC50-4DAE-90F0-37369D231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8 个阶段，只有最早门槛能继续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8B3FFE-5FEA-4170-8D4C-2B98FC880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876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pm-workbench-map.md 是阶段、状态字段和 eval 分类的统一地图。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AF3E3E-004F-49FF-B008-E52911E0C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9EF"/>
          </a:solidFill>
          <a:ln xmlns:a="http://schemas.openxmlformats.org/drawingml/2006/main" w="0">
            <a:solidFill>
              <a:srgbClr val="E6E9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02A33F-CD09-456F-BD72-09AF24C41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94A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4A3"/>
                </a:solidFill>
                <a:latin typeface="Aptos"/>
                <a:ea typeface="Aptos"/>
                <a:cs typeface="Aptos"/>
              </a:rPr>
              <a:t>PMWorkspace 运行逻辑与瘦身审计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2E79A9-CBA2-418D-BB12-08439EB40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A94A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4A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21F737-7F68-4FB1-AD30-B8EDA2E21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23812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6B9691-16C3-4309-97C1-EC834CB5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30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EFE067-BF1B-4FFE-9393-440E9127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050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入口路由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935F66-BB05-4C4B-A810-7BF924C2D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289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补事实 / 拍取舍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011582-908A-45DD-A26C-9BF611556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62225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1D0"/>
          </a:solidFill>
          <a:ln xmlns:a="http://schemas.openxmlformats.org/drawingml/2006/main" w="0">
            <a:solidFill>
              <a:srgbClr val="B7C1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57399B-DAF6-423C-B3FA-6666E3822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95500"/>
            <a:ext cx="23812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A568B3-EF05-4473-86EA-2730E677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305050"/>
            <a:ext cx="30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A5E9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EA5E9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AB53AB-8809-4B0C-9CAF-15F958EBD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3050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自动评审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D07709-70A5-4167-955B-55D08A89C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6289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补事实 / 拍取舍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6AE443-3DC8-49E9-B3F7-42756495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562225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1D0"/>
          </a:solidFill>
          <a:ln xmlns:a="http://schemas.openxmlformats.org/drawingml/2006/main" w="0">
            <a:solidFill>
              <a:srgbClr val="B7C1D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CDF948-7C79-4BCD-B7A8-5288CC032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95500"/>
            <a:ext cx="23812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1D761B-BBF1-424E-8795-AF2E08DC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05050"/>
            <a:ext cx="30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B981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0B981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10450C-7AEA-4BE6-A990-5D6335F69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3050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价值澄清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14D871-6CE7-407A-9CC7-2A255F2E2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289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补事实 / 拍取舍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4C2AF3-980C-4B21-84BD-E0F3E30E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62225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1D0"/>
          </a:solidFill>
          <a:ln xmlns:a="http://schemas.openxmlformats.org/drawingml/2006/main" w="0">
            <a:solidFill>
              <a:srgbClr val="B7C1D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FFBCE4-B202-4653-8DF9-492B5B54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95500"/>
            <a:ext cx="23812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C7E563-698E-44B3-AE8A-9B2CBAA6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05050"/>
            <a:ext cx="30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C3AED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7C3AED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356663-F4EE-4A44-AB1A-D6FDA5F8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3050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策略审查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54B3B7-8C7E-415F-AE37-00409E32F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6289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补事实 / 拍取舍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65224F-C139-477F-925B-688B5E67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00450"/>
            <a:ext cx="23812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A66787-8169-4505-B5F2-27BCA60C1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30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9731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97316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109FCF-9B51-4F0E-968D-EF6F5C64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100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产品简报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98C98C-6B91-443D-9A88-7257FE60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338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固化 / 生成 / 复审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78AF82-0795-4D17-B4C2-063884C5D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067175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1D0"/>
          </a:solidFill>
          <a:ln xmlns:a="http://schemas.openxmlformats.org/drawingml/2006/main" w="0">
            <a:solidFill>
              <a:srgbClr val="B7C1D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3AC319-AB6E-40D5-85C4-B722EF55A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600450"/>
            <a:ext cx="23812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7B4DDA-E7D2-4710-9E3F-AA053583F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810000"/>
            <a:ext cx="30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ACFBEF4-0433-4933-A7CD-D271E3ED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8100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原型方案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F1F01B9-1378-4879-94ED-3D2DD318A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1338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固化 / 生成 / 复审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226A76-FB9A-4B07-BD9F-A4505F139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067175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1D0"/>
          </a:solidFill>
          <a:ln xmlns:a="http://schemas.openxmlformats.org/drawingml/2006/main" w="0">
            <a:solidFill>
              <a:srgbClr val="B7C1D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81C6667-49E1-4157-9FD1-5F99FDDBA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00450"/>
            <a:ext cx="23812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195E8E-DD10-415E-AD5E-B54F4429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10000"/>
            <a:ext cx="30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F4444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EF4444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A0A6ECF-B6DF-4E36-B26A-4BE9A6D3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8100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原型复审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0A6E8AC-2880-4E23-850E-1B2BD3CD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1338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固化 / 生成 / 复审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96CBF0A-1876-43DE-B5FC-E70FC49A9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067175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1D0"/>
          </a:solidFill>
          <a:ln xmlns:a="http://schemas.openxmlformats.org/drawingml/2006/main" w="0">
            <a:solidFill>
              <a:srgbClr val="B7C1D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A1084C0-7D1B-4829-9BD5-F3393D702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00450"/>
            <a:ext cx="23812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C27F678-F107-4C2E-934B-B1FFC75D5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810000"/>
            <a:ext cx="30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34155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334155"/>
                </a:solidFill>
                <a:latin typeface="Aptos Display"/>
                <a:ea typeface="Aptos Display"/>
                <a:cs typeface="Aptos Display"/>
              </a:rPr>
              <a:t>7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3A1A297-17DC-4FA2-8B8D-F36FD3DA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8100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产品交付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F402DA0-012A-4926-8595-75292A98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1338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固化 / 生成 / 复审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D570D3E-C574-4E97-8FC4-95AC46C8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91150"/>
            <a:ext cx="990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34155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334155"/>
                </a:solidFill>
                <a:latin typeface="Aptos Display"/>
                <a:ea typeface="Aptos Display"/>
                <a:cs typeface="Aptos Display"/>
              </a:rPr>
              <a:t>运行层：pmw-run / pmw-log / pmw-artifact / pmw-dashboard / pmw-eval</a:t>
            </a:r>
          </a:p>
        </p:txBody>
      </p:sp>
    </p:spTree>
    <p:extLst>
      <p:ext uri="{BB962C8B-B14F-4D97-AF65-F5344CB8AC3E}">
        <p14:creationId xmlns:p14="http://schemas.microsoft.com/office/powerpoint/2010/main" val="102570133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0E6F57-62CA-4252-AE56-B09086890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F7F8F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517BD0-95D4-4DDD-95C7-E0133B2BD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ROUTING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798C6C-41A7-4D8F-8ADD-4AF354D9B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D0 决定工作方式，不决定最终答案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657098-42D4-456D-B211-CCAE1AE46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876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$pm-workspace 是入口协议；routing.md 才是下一技能真源。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D779D7-5FC8-45CF-874B-0E2BC095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9EF"/>
          </a:solidFill>
          <a:ln xmlns:a="http://schemas.openxmlformats.org/drawingml/2006/main" w="0">
            <a:solidFill>
              <a:srgbClr val="E6E9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CD1B3C-4884-4C05-8E4D-81D77FA8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94A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4A3"/>
                </a:solidFill>
                <a:latin typeface="Aptos"/>
                <a:ea typeface="Aptos"/>
                <a:cs typeface="Aptos"/>
              </a:rPr>
              <a:t>PMWorkspace 运行逻辑与瘦身审计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1BBF6A-F162-4804-8360-210654FEC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A94A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4A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6F6480-5841-442F-B01A-CE0FDB6B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2857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80E271-1F48-4504-A13D-CE4C7DE95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57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816D7C-9FA4-4FE7-8400-5A625338E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7170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输入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3BBA47-D6C6-4833-9143-CA3C145C3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33650"/>
            <a:ext cx="25146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用户任务、截图、PRD、Zoon、风险信号、当前 run。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FFFE0A-D3C4-43F1-A761-E8756477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00250"/>
            <a:ext cx="2857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4A0F5E-1244-43AC-A1BB-60A71C2B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00250"/>
            <a:ext cx="57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61F541-E675-4754-8586-0582782FD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7170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97316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97316"/>
                </a:solidFill>
                <a:latin typeface="Aptos Display"/>
                <a:ea typeface="Aptos Display"/>
                <a:cs typeface="Aptos Display"/>
              </a:rPr>
              <a:t>D0 判断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ED9349-A41F-447E-A371-EF4FCD39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33650"/>
            <a:ext cx="25146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快速成型 / 深度交付；说明为什么这样判定和当前卡点。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5DD073-0587-4041-9D55-ECE11885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00250"/>
            <a:ext cx="2857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8D6FEF-2B91-4868-89BE-03723728F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00250"/>
            <a:ext cx="57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3DC88D-21B7-407F-866F-E9CB695D4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7170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B981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0B981"/>
                </a:solidFill>
                <a:latin typeface="Aptos Display"/>
                <a:ea typeface="Aptos Display"/>
                <a:cs typeface="Aptos Display"/>
              </a:rPr>
              <a:t>路由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F1ED65-C382-4A67-8978-95173F614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33650"/>
            <a:ext cx="25146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只交给最早能补齐门槛的技能，不伪装下游已完成。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659C5F-2A54-4F29-9041-9EF9F131E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09875"/>
            <a:ext cx="104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5BA4DA-B46D-4C50-8AE9-5D9B343A2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09875"/>
            <a:ext cx="104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94E073-BDC9-4C5E-B024-0A66C3E52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386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D33ED2-3C70-4264-ACBE-7F810EB9F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72000"/>
            <a:ext cx="895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用户必须看见工作方式卡片。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4766A6-80ED-4EFE-BD0D-95225FB04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387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E2DA14-AC30-4375-9499-C3F164C18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72050"/>
            <a:ext cx="895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当前一步和下一步要可执行。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FB0E30-8003-4E04-82D6-8E0EEDA3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387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18FEC9-D0FC-43FB-8298-F25A44E4A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72100"/>
            <a:ext cx="895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run 由入口创建，子 skill 复用。</a:t>
            </a:r>
          </a:p>
        </p:txBody>
      </p:sp>
    </p:spTree>
    <p:extLst>
      <p:ext uri="{BB962C8B-B14F-4D97-AF65-F5344CB8AC3E}">
        <p14:creationId xmlns:p14="http://schemas.microsoft.com/office/powerpoint/2010/main" val="187776986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07F9EB-09AB-41D4-965E-0B755E988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F7F8F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ECAA99-B549-4C14-A598-4C14122B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AUTOPLAN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A135F2-CA2B-4C31-A3F6-CC0EA4F61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$pm-autoplan 是总控，不是跳关器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8E2805-33D8-449B-BD19-826F5050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876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自动评审只推进到当前最早可靠门槛。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50D0DD-5C8B-428A-B76A-7365A81A6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9EF"/>
          </a:solidFill>
          <a:ln xmlns:a="http://schemas.openxmlformats.org/drawingml/2006/main" w="0">
            <a:solidFill>
              <a:srgbClr val="E6E9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D33582-BABB-41CC-ACAF-9A4261C88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94A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4A3"/>
                </a:solidFill>
                <a:latin typeface="Aptos"/>
                <a:ea typeface="Aptos"/>
                <a:cs typeface="Aptos"/>
              </a:rPr>
              <a:t>PMWorkspace 运行逻辑与瘦身审计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3937F2-43EF-4645-A40F-A3426387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A94A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4A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CF3B3A-F995-4985-8DD5-01847DF5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10477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5C7C18-C708-4B5F-9150-B10C89D3D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288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B981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0B981"/>
                </a:solidFill>
                <a:latin typeface="Aptos Display"/>
                <a:ea typeface="Aptos Display"/>
                <a:cs typeface="Aptos Display"/>
              </a:rPr>
              <a:t>快速成型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F52B24-641A-4808-843F-3773B9A5D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907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2-3 个关键 Q + 假设确认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3894BA-1901-4EE3-9322-26DC743C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907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34155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334155"/>
                </a:solidFill>
                <a:latin typeface="Aptos Display"/>
                <a:ea typeface="Aptos Display"/>
                <a:cs typeface="Aptos Display"/>
              </a:rPr>
              <a:t>基于假设，可讨论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3BE1EB-9E3E-4B84-94BC-1BC33635F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10477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E6C4E3-1591-4B4E-B5FC-8787FB58C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28975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F4444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EF4444"/>
                </a:solidFill>
                <a:latin typeface="Aptos Display"/>
                <a:ea typeface="Aptos Display"/>
                <a:cs typeface="Aptos Display"/>
              </a:rPr>
              <a:t>风险升级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008387-8429-4A01-8FB0-52A2A33B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90875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生产 / 真实数据 / 线索交易 / 隐私 / 交付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BB0A51-3991-495A-80ED-91862710F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90875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34155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334155"/>
                </a:solidFill>
                <a:latin typeface="Aptos Display"/>
                <a:ea typeface="Aptos Display"/>
                <a:cs typeface="Aptos Display"/>
              </a:rPr>
              <a:t>转深度交付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C164DF-4798-44E9-B8DE-F08B03177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10477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0E1F93-5EBA-4E6C-8576-8B34391E1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291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深度交付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F2BD33-BD41-4F7F-ABE2-615298C43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1910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价值判断 -&gt; 多轮 Q/D -&gt; brief -&gt; readiness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EF7E99-FD66-47B9-99F7-0586F9B9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910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34155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334155"/>
                </a:solidFill>
                <a:latin typeface="Aptos Display"/>
                <a:ea typeface="Aptos Display"/>
                <a:cs typeface="Aptos Display"/>
              </a:rPr>
              <a:t>停在最早阻断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228D17-5242-4A5E-863F-53EB604DC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9115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核心维护点：不要让自动化把“推荐推进”变成“绕过用户拍板”。</a:t>
            </a:r>
          </a:p>
        </p:txBody>
      </p:sp>
    </p:spTree>
    <p:extLst>
      <p:ext uri="{BB962C8B-B14F-4D97-AF65-F5344CB8AC3E}">
        <p14:creationId xmlns:p14="http://schemas.microsoft.com/office/powerpoint/2010/main" val="18833477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F09F03-25B3-4DC2-AECD-26DFB504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F7F8F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BF5EB2-8A7F-48AD-87ED-D82E1E6FC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DISCOVERY GATE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232B10-85D5-4F79-AF55-4B4CEB9A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一次只问一个，不等于总共只问一个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AE3208-ABAB-4C68-B9E4-20182712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876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pmw-discovery-gate 把产品发现从文案建议变成运行时门槛。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27D96E-8B0D-457C-875E-F7EB32EC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9EF"/>
          </a:solidFill>
          <a:ln xmlns:a="http://schemas.openxmlformats.org/drawingml/2006/main" w="0">
            <a:solidFill>
              <a:srgbClr val="E6E9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344135-A005-4517-8D3C-F4572BBE1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94A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4A3"/>
                </a:solidFill>
                <a:latin typeface="Aptos"/>
                <a:ea typeface="Aptos"/>
                <a:cs typeface="Aptos"/>
              </a:rPr>
              <a:t>PMWorkspace 运行逻辑与瘦身审计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899854-A24D-41CE-82FE-376B6014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A94A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4A3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71D5F0-37D3-44B1-83DB-A6563668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43125"/>
            <a:ext cx="1714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76AD01-30AA-4BB0-A31F-F01C0E63E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622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产品定位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159C54-641B-4C7F-9953-741045A5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14625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链路角色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E2095E-C9D4-47D6-8588-830502FDA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143125"/>
            <a:ext cx="1714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1AEF1A-7EE2-444C-B7FA-D4BDCA7A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3622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B981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0B981"/>
                </a:solidFill>
                <a:latin typeface="Aptos Display"/>
                <a:ea typeface="Aptos Display"/>
                <a:cs typeface="Aptos Display"/>
              </a:rPr>
              <a:t>目标用户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879310-FD2E-4309-80CE-9230F1FD3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714625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触发时刻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BC1056-021B-4B69-B720-F4D6ED8F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143125"/>
            <a:ext cx="1714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FA4D77-45C6-47B3-9C4C-BE6EC522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3622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97316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97316"/>
                </a:solidFill>
                <a:latin typeface="Aptos Display"/>
                <a:ea typeface="Aptos Display"/>
                <a:cs typeface="Aptos Display"/>
              </a:rPr>
              <a:t>用户现状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AB116B-FE36-4405-A9AB-93028B48F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714625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当前替代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ECB01F-E1C8-47D7-9F51-DF8185464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143125"/>
            <a:ext cx="1714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5AFDB0-9360-4CBC-B170-F43B66A9D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3622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F4444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EF4444"/>
                </a:solidFill>
                <a:latin typeface="Aptos Display"/>
                <a:ea typeface="Aptos Display"/>
                <a:cs typeface="Aptos Display"/>
              </a:rPr>
              <a:t>真实痛点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4ED45E-AA14-4947-A1FC-841D555F0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714625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当前损失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23F616-1AA5-4C04-BEC6-0ECC92FE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143125"/>
            <a:ext cx="1714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DBA9D5-104E-4106-A6B2-54EA34BA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3622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C3AED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7C3AED"/>
                </a:solidFill>
                <a:latin typeface="Aptos Display"/>
                <a:ea typeface="Aptos Display"/>
                <a:cs typeface="Aptos Display"/>
              </a:rPr>
              <a:t>主目标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2461EA-C8AF-4EEA-BC75-3AC5922D5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714625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反指标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775773-CC24-475F-8E3A-C0095E23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38625"/>
            <a:ext cx="3619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01F09B-32F0-461F-A29E-A0B84E88D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38625"/>
            <a:ext cx="571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87C45A-724E-443D-9B8B-2E9E1462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410075"/>
            <a:ext cx="3276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Q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5F139C-9574-4208-A098-9896C8332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772025"/>
            <a:ext cx="3276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补事实：谁、何时、怎么替代、损失是什么。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4100A6-C028-4C99-ABAD-7D09A0F9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38625"/>
            <a:ext cx="3619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0663C3-1241-4C40-8DA9-35FFD95F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38625"/>
            <a:ext cx="571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BA8429-5B5B-46AB-96A0-28261B2AA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10075"/>
            <a:ext cx="3276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97316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97316"/>
                </a:solidFill>
                <a:latin typeface="Aptos Display"/>
                <a:ea typeface="Aptos Display"/>
                <a:cs typeface="Aptos Display"/>
              </a:rPr>
              <a:t>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93C757-46C6-4F3E-BE91-E221BE7F4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72025"/>
            <a:ext cx="3276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拍取舍：定位、范围、价值交换、承诺边界。</a:t>
            </a:r>
          </a:p>
        </p:txBody>
      </p:sp>
    </p:spTree>
    <p:extLst>
      <p:ext uri="{BB962C8B-B14F-4D97-AF65-F5344CB8AC3E}">
        <p14:creationId xmlns:p14="http://schemas.microsoft.com/office/powerpoint/2010/main" val="134591063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8934A5-6C6F-48D3-8269-BB69F4E3D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F7F8F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62DAD6-482B-431E-A80E-DE654819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PRODUCT BRIEF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39791D-BCAF-4D6E-9E23-324F238C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简报是 PM brief，不是 8 行摘要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B63503-BA58-4771-A196-0533343B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876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业务正文讲产品判断；审计字段留在本地状态和 run。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845C1D-07AA-44D0-866B-7CD1974D5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9EF"/>
          </a:solidFill>
          <a:ln xmlns:a="http://schemas.openxmlformats.org/drawingml/2006/main" w="0">
            <a:solidFill>
              <a:srgbClr val="E6E9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5C9191-71C5-4E2E-8F66-1FD3BCC61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94A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4A3"/>
                </a:solidFill>
                <a:latin typeface="Aptos"/>
                <a:ea typeface="Aptos"/>
                <a:cs typeface="Aptos"/>
              </a:rPr>
              <a:t>PMWorkspace 运行逻辑与瘦身审计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35AADF-5152-4EA7-8C4D-BB06E2C92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A94A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4A3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1277CC-E421-4EF9-B9A3-557E8A486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52625"/>
            <a:ext cx="390525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22D415-C636-4E93-BDD2-4C69CE58B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52625"/>
            <a:ext cx="571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AC4D46-6C06-43C4-BBC7-9B7F2DE2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24075"/>
            <a:ext cx="3562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业务正文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5C7A59-4847-4473-8CBD-5020BFEC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86025"/>
            <a:ext cx="35623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核心价值判断</a:t>
            </a:r>
          </a:p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背景与现状</a:t>
            </a:r>
          </a:p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目标用户与触发场景</a:t>
            </a:r>
          </a:p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用户痛点与当前替代</a:t>
            </a:r>
          </a:p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竞品 / 行业做法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526671-C9DE-40DC-84EA-271C32D5D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952625"/>
            <a:ext cx="390525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3B5B32-4FA4-4550-8294-E87C6B22D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952625"/>
            <a:ext cx="571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361FBE-A783-483A-9CA2-E7D2B3643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124075"/>
            <a:ext cx="3562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B981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0B981"/>
                </a:solidFill>
                <a:latin typeface="Aptos Display"/>
                <a:ea typeface="Aptos Display"/>
                <a:cs typeface="Aptos Display"/>
              </a:rPr>
              <a:t>方案与验收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712EB8-87D5-4312-81B3-9A1FB90F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486025"/>
            <a:ext cx="35623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产品机会与解决思路</a:t>
            </a:r>
          </a:p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本版范围与方案方向</a:t>
            </a:r>
          </a:p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成功指标与反指标</a:t>
            </a:r>
          </a:p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约束与不可虚构项</a:t>
            </a:r>
          </a:p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待验证问题与下一步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609B66-DE5E-4F4B-B081-75F988E2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952625"/>
            <a:ext cx="1476375" cy="276225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C1A88A-E2A4-4B38-8B0D-E4E36B33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952625"/>
            <a:ext cx="571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1B14FB-8D10-44EE-825B-9B9CA79D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124075"/>
            <a:ext cx="11334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34155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334155"/>
                </a:solidFill>
                <a:latin typeface="Aptos Display"/>
                <a:ea typeface="Aptos Display"/>
                <a:cs typeface="Aptos Display"/>
              </a:rPr>
              <a:t>内部审计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2A90DE-541C-4EA4-9189-91B4695BE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486025"/>
            <a:ext cx="113347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run / path / Zoon 状态 / 证据边界 / 产物流动 / readiness verdict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4A0E19-E492-4F72-BDD0-8F42BF97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14950"/>
            <a:ext cx="990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判断标准：用户读完后应该知道为什么做、为谁做、怎么解决痛点、什么不能承诺。</a:t>
            </a:r>
          </a:p>
        </p:txBody>
      </p:sp>
    </p:spTree>
    <p:extLst>
      <p:ext uri="{BB962C8B-B14F-4D97-AF65-F5344CB8AC3E}">
        <p14:creationId xmlns:p14="http://schemas.microsoft.com/office/powerpoint/2010/main" val="14234743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2E76E8-C59D-4282-BD00-A30E1113C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F7F8F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F620FD-51C7-4CD6-BB39-960DF2D4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ZOON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7A077B-52C2-4312-A051-99E28629F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本地事实源优先，Zoon 是协作增强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BDEA1E-5667-4A73-8772-293E96110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876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本地 Markdown 保存后推荐 Zoon，但必须 A/B 选择。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A8350D-7EE7-4D82-86DB-7713337CD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9EF"/>
          </a:solidFill>
          <a:ln xmlns:a="http://schemas.openxmlformats.org/drawingml/2006/main" w="0">
            <a:solidFill>
              <a:srgbClr val="E6E9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419030-7FBD-404E-B003-2AA6EBAB3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94A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4A3"/>
                </a:solidFill>
                <a:latin typeface="Aptos"/>
                <a:ea typeface="Aptos"/>
                <a:cs typeface="Aptos"/>
              </a:rPr>
              <a:t>PMWorkspace 运行逻辑与瘦身审计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F2100F-E29B-486C-8E5A-FF356EBA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A94A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4A3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142B41-6D7F-4911-8C19-758084654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38375"/>
            <a:ext cx="20955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97DCF4-EC63-47B2-9291-4B1D6CED0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79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648B79-3E8D-43BA-8968-3B975E422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574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保存本地 MD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8F61DC-16D2-40F6-B327-26BF04F2A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1940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C78EAA-E988-4FA8-9892-53FD37C5B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38375"/>
            <a:ext cx="20955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CE7145-518B-44BF-A5A6-CC093289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479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9731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97316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2E019A-44F4-47BD-BC25-72309F3E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4574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推荐 Zoon 价值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AB6A3D-786E-4620-BB94-732F6E93A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1940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9FB21E-A799-4F18-A96A-CC808BD82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38375"/>
            <a:ext cx="20955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B8D5DC-6485-4727-A46B-7431C49F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479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C3AED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7C3AED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87B129-5B4C-428C-895E-D3606D566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4574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用户 A/B 选择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B5965C-04E0-4D27-AB28-3F691A05C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1940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44C0B6-E4FB-432F-9DF9-22702E61C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38375"/>
            <a:ext cx="20955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9978EE-F56A-4DCE-92CE-740A8DD2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4479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B981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0B981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4B4086-867A-4AC9-9DC4-425A63126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4574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选 B 才同步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AF38EE-3BEB-466C-BB99-A2FF0CC81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005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13556B-B466-46D9-8B73-2AE420FA8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33875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多人协作：团队可在线修改同一份业务简报。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582A5D-0B15-4077-B182-8391FDFB1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244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87D35E-FDA6-482A-90B5-CCB4D385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57725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事实源统一：后续原型 / PRD 读取同一口径。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901595-FD2A-4141-9BD7-00EE6C5A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482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FB0329-FECF-4E85-8A69-57F2546FA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81575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防漂移：已启用时出图和交付前检查最新快照。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E1EAC5-E258-4E2E-9978-72E69617D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721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0A11AA-D5D7-4EC5-B637-10C8C703E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05425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不自动同步：未启用时使用本地简报，不阻断。</a:t>
            </a:r>
          </a:p>
        </p:txBody>
      </p:sp>
    </p:spTree>
    <p:extLst>
      <p:ext uri="{BB962C8B-B14F-4D97-AF65-F5344CB8AC3E}">
        <p14:creationId xmlns:p14="http://schemas.microsoft.com/office/powerpoint/2010/main" val="172531724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4307F5-3959-4908-B229-1F52441F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F7F8F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53596D-0206-40EC-B03E-2E98A6246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PROTOTYPE CHAIN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B027FD-42E6-472B-A3FA-B6515D5D4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原型出图链路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288DB4-009B-4803-84D8-53853560E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876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每张图必须能追溯到 brief、方案、屏幕任务和不可虚构边界。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E06AD2-1836-4E46-98A4-67EA55BDD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9EF"/>
          </a:solidFill>
          <a:ln xmlns:a="http://schemas.openxmlformats.org/drawingml/2006/main" w="0">
            <a:solidFill>
              <a:srgbClr val="E6E9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FD07B8-BA82-4744-81B1-A6015058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94A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4A3"/>
                </a:solidFill>
                <a:latin typeface="Aptos"/>
                <a:ea typeface="Aptos"/>
                <a:cs typeface="Aptos"/>
              </a:rPr>
              <a:t>PMWorkspace 运行逻辑与瘦身审计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C9EEF-259A-4B2F-BEAB-0FBA605A9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A94A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4A3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A529BA-3440-41A9-A192-1C9783E0F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714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86A522-9730-495E-8B85-60E17BA18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14625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Readiness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A1CAD0-7589-4BC8-AD15-6280E68F7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95600"/>
            <a:ext cx="52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7B8"/>
          </a:solidFill>
          <a:ln xmlns:a="http://schemas.openxmlformats.org/drawingml/2006/main" w="0">
            <a:solidFill>
              <a:srgbClr val="9AA7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269A85-339F-43AD-88AA-9F2DEBB0E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381250"/>
            <a:ext cx="1714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21E7AD-F36E-4D97-B11A-3319F59C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714625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B981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0B981"/>
                </a:solidFill>
                <a:latin typeface="Aptos Display"/>
                <a:ea typeface="Aptos Display"/>
                <a:cs typeface="Aptos Display"/>
              </a:rPr>
              <a:t>Output unit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6C7C6A-3352-4733-9934-53F653ECB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895600"/>
            <a:ext cx="52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7B8"/>
          </a:solidFill>
          <a:ln xmlns:a="http://schemas.openxmlformats.org/drawingml/2006/main" w="0">
            <a:solidFill>
              <a:srgbClr val="9AA7B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F3B70A-9E04-4717-9078-F2D1D660F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81250"/>
            <a:ext cx="1714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DECD41-E873-477F-A77F-5F9181BD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714625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97316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97316"/>
                </a:solidFill>
                <a:latin typeface="Aptos Display"/>
                <a:ea typeface="Aptos Display"/>
                <a:cs typeface="Aptos Display"/>
              </a:rPr>
              <a:t>Prompt check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8DD110-D026-495A-AAB6-80B0BDD4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95600"/>
            <a:ext cx="52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7B8"/>
          </a:solidFill>
          <a:ln xmlns:a="http://schemas.openxmlformats.org/drawingml/2006/main" w="0">
            <a:solidFill>
              <a:srgbClr val="9AA7B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5745C8-EAB2-42F4-A2B9-A461DEF01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81250"/>
            <a:ext cx="1714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2F29E9-A4F4-4CA2-8734-96708DB3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714625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C3AED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7C3AED"/>
                </a:solidFill>
                <a:latin typeface="Aptos Display"/>
                <a:ea typeface="Aptos Display"/>
                <a:cs typeface="Aptos Display"/>
              </a:rPr>
              <a:t>image-2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BBD829-1E23-45B1-9051-5A31A449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895600"/>
            <a:ext cx="52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7B8"/>
          </a:solidFill>
          <a:ln xmlns:a="http://schemas.openxmlformats.org/drawingml/2006/main" w="0">
            <a:solidFill>
              <a:srgbClr val="9AA7B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F810B3-A0E1-45F7-8F09-0685B9E7E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81250"/>
            <a:ext cx="1714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143B2C-7AC9-458E-A145-D1FB5DDE4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14625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F4444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EF4444"/>
                </a:solidFill>
                <a:latin typeface="Aptos Display"/>
                <a:ea typeface="Aptos Display"/>
                <a:cs typeface="Aptos Display"/>
              </a:rPr>
              <a:t>Image audit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66AF0E-AC2B-41AF-B90F-BB328980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333875"/>
            <a:ext cx="8001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B11DF4-5D32-4E53-9672-B9D0C5DC2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333875"/>
            <a:ext cx="57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848744-9025-4A75-A3A3-9A151E5B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505325"/>
            <a:ext cx="7658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单图协议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72911F-8010-4D7D-BCC7-32F021495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67275"/>
            <a:ext cx="765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一次 image-2 调用 = 一张图 = 一个方案 + 一个屏幕任务。批量只是连续执行多个单图任务。</a:t>
            </a:r>
          </a:p>
        </p:txBody>
      </p:sp>
    </p:spTree>
    <p:extLst>
      <p:ext uri="{BB962C8B-B14F-4D97-AF65-F5344CB8AC3E}">
        <p14:creationId xmlns:p14="http://schemas.microsoft.com/office/powerpoint/2010/main" val="196547103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218B98-82EE-4D56-96ED-8899FEE4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F7F8F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E7AEB3-4811-45FF-86D2-336582038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PHYSICAL LONGBOARD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B1B2A4-3DA2-47A6-B589-7802386B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有生产截图时，402 x 874 不能进 prompt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EB1921-43B6-4960-8207-3C50C2B84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876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短画布锚点必须被 prompt check 和 image audit 双重拦截。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27CF18-D59A-4EBE-B62F-7C93E8B88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9EF"/>
          </a:solidFill>
          <a:ln xmlns:a="http://schemas.openxmlformats.org/drawingml/2006/main" w="0">
            <a:solidFill>
              <a:srgbClr val="E6E9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A613A2-A7BD-479F-9EF8-A1DBDF3F0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94A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4A3"/>
                </a:solidFill>
                <a:latin typeface="Aptos"/>
                <a:ea typeface="Aptos"/>
                <a:cs typeface="Aptos"/>
              </a:rPr>
              <a:t>PMWorkspace 运行逻辑与瘦身审计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6BA442-E2E9-44FB-8EBC-0F2FD651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A94A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4A3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ED72A9-DA4E-49B1-A589-815F1B71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90750"/>
            <a:ext cx="30003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7B167B-1D8F-42AD-92DC-824C9A37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9075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51E979-2E5D-4DA3-B4D0-8BC70CC6E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362200"/>
            <a:ext cx="26574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B981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0B981"/>
                </a:solidFill>
                <a:latin typeface="Aptos Display"/>
                <a:ea typeface="Aptos Display"/>
                <a:cs typeface="Aptos Display"/>
              </a:rPr>
              <a:t>无线上截图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FFE0DF-F68F-4CFB-B24A-7D82A88F0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724150"/>
            <a:ext cx="26574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standard_first_screen</a:t>
            </a:r>
          </a:p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可用 iPhone 17 402 x 874</a:t>
            </a:r>
          </a:p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适合新概念短首屏。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1183B5-6EFF-4250-B836-4DF973491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90750"/>
            <a:ext cx="30003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3D5539-B8D7-46B5-9BFF-DBB0F729B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9075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CE49AC-BC6B-4831-8E07-A7FDC42A7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362200"/>
            <a:ext cx="26574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有 visual_baseline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31E331-2B4D-4539-A72C-A90042F8C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724150"/>
            <a:ext cx="26574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physical_longboard</a:t>
            </a:r>
          </a:p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写参考图物理尺寸和目标输出像素</a:t>
            </a:r>
          </a:p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高度不得低于参考图，可增长。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870028-C69F-4621-9A52-FD9C5E8F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90750"/>
            <a:ext cx="30003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CF77EA-E98D-4A9F-8A9C-B92ACF98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9075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EF444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94DEA6-7FB8-4E33-A469-9C60DC40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62200"/>
            <a:ext cx="26574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F4444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EF4444"/>
                </a:solidFill>
                <a:latin typeface="Aptos Display"/>
                <a:ea typeface="Aptos Display"/>
                <a:cs typeface="Aptos Display"/>
              </a:rPr>
              <a:t>禁止残留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CB1F34-C666-4AA4-84B1-2359ED75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24150"/>
            <a:ext cx="26574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prompt 中不得出现 402 x 874 / W402 x H874 / H874 / 标准首屏 / 最低 H874。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52B84C-2093-456F-A5CA-18DE67D7D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095875"/>
            <a:ext cx="981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脚本责任：pmw-prototype-prompt-check 出图前挡旧 prompt；pmw-image-audit 出图后挡尺寸失败。</a:t>
            </a:r>
          </a:p>
        </p:txBody>
      </p:sp>
    </p:spTree>
    <p:extLst>
      <p:ext uri="{BB962C8B-B14F-4D97-AF65-F5344CB8AC3E}">
        <p14:creationId xmlns:p14="http://schemas.microsoft.com/office/powerpoint/2010/main" val="186975666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97176B-6D79-4692-A353-33FC16C9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F7F8F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4FD53B-FEAD-4A87-A13D-BC66A9F85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REVIEW &amp; HANDOFF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C7EEDB-01ED-4B24-8DD9-D80E04AE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好看不能覆盖事实错误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B712BF-AF05-450B-A601-46CC61970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876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复审和交付都要读取已对齐 brief、输出单元和 readiness verdict。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900DFF-1AAE-4558-8A87-8253E7541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9EF"/>
          </a:solidFill>
          <a:ln xmlns:a="http://schemas.openxmlformats.org/drawingml/2006/main" w="0">
            <a:solidFill>
              <a:srgbClr val="E6E9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6F755C-269C-405A-BF68-5D352B355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94A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4A3"/>
                </a:solidFill>
                <a:latin typeface="Aptos"/>
                <a:ea typeface="Aptos"/>
                <a:cs typeface="Aptos"/>
              </a:rPr>
              <a:t>PMWorkspace 运行逻辑与瘦身审计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4B84B5-EF1A-42C5-A133-CD293CD26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A94A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4A3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3BD89C-9C3A-4BA2-840B-EF8364C6C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143125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B60567-E785-43F7-AD25-937F96B9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42887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策略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1E2475-C3FC-4D18-AEE8-3F44FA40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143125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82067D-F2EA-4D99-A3E4-9F927A72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42887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97316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97316"/>
                </a:solidFill>
                <a:latin typeface="Aptos Display"/>
                <a:ea typeface="Aptos Display"/>
                <a:cs typeface="Aptos Display"/>
              </a:rPr>
              <a:t>信任 / 风险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09D56A-4F1A-4288-9664-729070FD0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143125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578A56-A6CC-4B35-9440-53A5587B4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42887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7C3AED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7C3AED"/>
                </a:solidFill>
                <a:latin typeface="Aptos Display"/>
                <a:ea typeface="Aptos Display"/>
                <a:cs typeface="Aptos Display"/>
              </a:rPr>
              <a:t>设计系统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BB32CC-4ACB-43AD-89D7-2086CC875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143125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E61799-F634-4755-A7C1-3AFB9B7BD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42887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B981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0B981"/>
                </a:solidFill>
                <a:latin typeface="Aptos Display"/>
                <a:ea typeface="Aptos Display"/>
                <a:cs typeface="Aptos Display"/>
              </a:rPr>
              <a:t>数据可行性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CA4045-576D-4684-A602-458FC6D3A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0"/>
            <a:ext cx="40005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1EE580-258A-496A-94E2-5841A60B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0"/>
            <a:ext cx="571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EF444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F04B02-5109-4A58-9FEA-AE05C277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71950"/>
            <a:ext cx="3657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F4444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EF4444"/>
                </a:solidFill>
                <a:latin typeface="Aptos Display"/>
                <a:ea typeface="Aptos Display"/>
                <a:cs typeface="Aptos Display"/>
              </a:rPr>
              <a:t>需要重出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AB4441-8916-4D2E-991F-0CC5F047F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33900"/>
            <a:ext cx="36576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违反 brief、反指标、不可虚构项、线上参考、设计系统或尺寸审计。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8C8002-2A1F-4D8C-A6B2-8674B955B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00500"/>
            <a:ext cx="40005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052DE2-FDEB-4041-8FA8-1870FA8D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00500"/>
            <a:ext cx="571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984DF2-DDFC-4291-A2C9-6DDDACAEF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71950"/>
            <a:ext cx="3657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97316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97316"/>
                </a:solidFill>
                <a:latin typeface="Aptos Display"/>
                <a:ea typeface="Aptos Display"/>
                <a:cs typeface="Aptos Display"/>
              </a:rPr>
              <a:t>需要 PM 拍板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CE0D36-9B9C-4766-96BE-17DF7D125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33900"/>
            <a:ext cx="36576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问题来自承诺、范围、实验口径、数据真实性、隐私或合规取舍。</a:t>
            </a:r>
          </a:p>
        </p:txBody>
      </p:sp>
    </p:spTree>
    <p:extLst>
      <p:ext uri="{BB962C8B-B14F-4D97-AF65-F5344CB8AC3E}">
        <p14:creationId xmlns:p14="http://schemas.microsoft.com/office/powerpoint/2010/main" val="163107301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5AD5B6-493B-4E92-B017-540CD7FA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F7F8F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E68EFC-FC3C-425B-8340-A5FDBA430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RUNTIME KERNEL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8D06F6-181A-4C37-ACF8-E198D7E9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脚本把“应该”变成“不能越过”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6424CA-6ECD-44ED-B31D-D0B863A4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876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skill 文案提示模型，运行时脚本负责挡错和留痕。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5BEE28-E7F5-4031-81A4-1BF66296F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9EF"/>
          </a:solidFill>
          <a:ln xmlns:a="http://schemas.openxmlformats.org/drawingml/2006/main" w="0">
            <a:solidFill>
              <a:srgbClr val="E6E9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291FC1-D3B4-4F12-AC33-53C6314EB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94A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4A3"/>
                </a:solidFill>
                <a:latin typeface="Aptos"/>
                <a:ea typeface="Aptos"/>
                <a:cs typeface="Aptos"/>
              </a:rPr>
              <a:t>PMWorkspace 运行逻辑与瘦身审计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1AE7AE-3B25-47C7-BDA3-B3565B190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A94A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4A3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741BEF-BD14-4746-881E-A584E9047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2952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C2D0F9-C819-4A86-B4AB-908F4BF05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6144ED-E384-4260-9F14-C4611EF8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71700"/>
            <a:ext cx="2609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pmw-run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D7E718-E9F0-4F26-A12E-9A246B653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33650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run owner / 状态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F568E4-A910-4F7C-9948-559E83AC4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000250"/>
            <a:ext cx="2952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B190B7-BAEC-4837-B110-2C16AA46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00025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297BAE-92C9-4587-A6C8-25A3546E9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171700"/>
            <a:ext cx="2609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B981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0B981"/>
                </a:solidFill>
                <a:latin typeface="Aptos Display"/>
                <a:ea typeface="Aptos Display"/>
                <a:cs typeface="Aptos Display"/>
              </a:rPr>
              <a:t>pmw-log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D88103-66B2-42EF-AF5D-66384EE5E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533650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discovery / brief / prototype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7D23EA-684E-44C1-830D-8518916EC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00250"/>
            <a:ext cx="2952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42AE35-8391-4233-BE52-9169CC73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0025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0CDF97-7D83-40B3-A14A-CEA06711F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71700"/>
            <a:ext cx="2609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97316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97316"/>
                </a:solidFill>
                <a:latin typeface="Aptos Display"/>
                <a:ea typeface="Aptos Display"/>
                <a:cs typeface="Aptos Display"/>
              </a:rPr>
              <a:t>pmw-artifact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1AC146-6EC0-4DD0-9C59-A19B39C8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33650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产物流动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9EFDD6-5C37-41EC-AEA1-4D5D6D1B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81375"/>
            <a:ext cx="2952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144F26-FF7E-44F3-B6EB-B48C7B22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81375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4DE6C7-7992-4065-A271-70F94D9C3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52825"/>
            <a:ext cx="2609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C3AED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7C3AED"/>
                </a:solidFill>
                <a:latin typeface="Aptos Display"/>
                <a:ea typeface="Aptos Display"/>
                <a:cs typeface="Aptos Display"/>
              </a:rPr>
              <a:t>pmw-dashboard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AFABD6-36CC-4D7D-AE86-3DEA24E6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14775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准备度 verdict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3DD225-98C3-46B2-8C3B-4115AF283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381375"/>
            <a:ext cx="2952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718E7B-872C-4A67-9BAD-5D593C6D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381375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8E8408-A363-41CF-91CA-2F7CFA27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552825"/>
            <a:ext cx="2609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34155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334155"/>
                </a:solidFill>
                <a:latin typeface="Aptos Display"/>
                <a:ea typeface="Aptos Display"/>
                <a:cs typeface="Aptos Display"/>
              </a:rPr>
              <a:t>pmw-prototype-board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762991-B6EB-48B8-841D-083ED3A9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914775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输出单元绑定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A3E5D1-ACFA-4BAF-AD48-C87AD6A7A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81375"/>
            <a:ext cx="2952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2318B5-5D94-42D8-928D-90BC56CB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81375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EF444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0810B9-66A3-432D-BA86-308B5B2EB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52825"/>
            <a:ext cx="2609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F4444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EF4444"/>
                </a:solidFill>
                <a:latin typeface="Aptos Display"/>
                <a:ea typeface="Aptos Display"/>
                <a:cs typeface="Aptos Display"/>
              </a:rPr>
              <a:t>prompt-check / image-audit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9C8B58-161E-4ECA-9115-134148671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14775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长板双保险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44F637-B344-4B3D-AA2C-FA2555278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81625"/>
            <a:ext cx="895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维护原则：高风险行为必须尽量落到脚本和 eval，不只写在 skill 长文案里。</a:t>
            </a:r>
          </a:p>
        </p:txBody>
      </p:sp>
    </p:spTree>
    <p:extLst>
      <p:ext uri="{BB962C8B-B14F-4D97-AF65-F5344CB8AC3E}">
        <p14:creationId xmlns:p14="http://schemas.microsoft.com/office/powerpoint/2010/main" val="116242472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F527E2-FB44-4F5B-A2AF-476C443AE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F7F8F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4D827D-0830-4ABA-B462-9BD848801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REGRESSION &amp; PLUGIN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A710C4-739F-4EA1-A189-0E1A60CA4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manifest 生成 skill，eval 防行为退化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C4921B-3B1D-4A2B-9F86-A8671B1CF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876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发布链路要保证 source、插件副本和 Codex plugin cache 不漂移。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176E84-5FFB-4B08-BA90-12551F8CF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9EF"/>
          </a:solidFill>
          <a:ln xmlns:a="http://schemas.openxmlformats.org/drawingml/2006/main" w="0">
            <a:solidFill>
              <a:srgbClr val="E6E9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187658-2124-444F-A0DD-61450D0B9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94A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4A3"/>
                </a:solidFill>
                <a:latin typeface="Aptos"/>
                <a:ea typeface="Aptos"/>
                <a:cs typeface="Aptos"/>
              </a:rPr>
              <a:t>PMWorkspace 运行逻辑与瘦身审计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D36627-AE98-4FEC-8DD1-47D18EE13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A94A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4A3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A4FA60-06DE-491E-9AA6-02A57E7E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81250"/>
            <a:ext cx="166687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8CD947-F68C-4CAE-825B-B0D6CE0A5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43200"/>
            <a:ext cx="1476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改 source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612CFB-6AA0-4E15-BD2B-BE60D18B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95600"/>
            <a:ext cx="428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909AB4-2A89-4355-86AA-6430D8D6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381250"/>
            <a:ext cx="166687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0F16AB-1CFA-45E7-B91A-D972B35E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743200"/>
            <a:ext cx="1476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C3AED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7C3AED"/>
                </a:solidFill>
                <a:latin typeface="Aptos Display"/>
                <a:ea typeface="Aptos Display"/>
                <a:cs typeface="Aptos Display"/>
              </a:rPr>
              <a:t>gen check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DACF20-4B51-4D86-95AE-E2279903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95600"/>
            <a:ext cx="428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56B62B-709C-4E2A-BBC1-7BAF9E332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381250"/>
            <a:ext cx="166687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491BE3-49C7-432B-9AEB-90CEA3E9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743200"/>
            <a:ext cx="1476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B981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0B981"/>
                </a:solidFill>
                <a:latin typeface="Aptos Display"/>
                <a:ea typeface="Aptos Display"/>
                <a:cs typeface="Aptos Display"/>
              </a:rPr>
              <a:t>pmw-eval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34F8FB-AB48-446D-8E03-31959511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95600"/>
            <a:ext cx="428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E57BAE-2C1A-4C80-B7DE-9A4DC1BAF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381250"/>
            <a:ext cx="166687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272CA4-4876-4246-973E-74A2559F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743200"/>
            <a:ext cx="1476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97316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97316"/>
                </a:solidFill>
                <a:latin typeface="Aptos Display"/>
                <a:ea typeface="Aptos Display"/>
                <a:cs typeface="Aptos Display"/>
              </a:rPr>
              <a:t>build plugin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9669A4-5124-4D8C-B037-E77531F8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95600"/>
            <a:ext cx="428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0BF618-7FB2-4461-AD5F-976837B83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381250"/>
            <a:ext cx="166687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609AA5-4B7B-4978-90EB-20A5A885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743200"/>
            <a:ext cx="1476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F4444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EF4444"/>
                </a:solidFill>
                <a:latin typeface="Aptos Display"/>
                <a:ea typeface="Aptos Display"/>
                <a:cs typeface="Aptos Display"/>
              </a:rPr>
              <a:t>安装 / 推送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EEF42E-2DE6-484E-BFDA-2E8FC4E9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481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058AC7-DDF6-44CB-8FEE-76D3C7DD9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81500"/>
            <a:ext cx="895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生成契约只改 manifest，不手写 generated block。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FDA70D-3356-4746-9BDE-3FF13E7DA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101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4C0FC0-750E-45F3-A2A6-A5E57495B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43450"/>
            <a:ext cx="895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新增行为先落 eval fixture，再改 skill / reference。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75FC74-998D-4ECD-9A4A-DE0785D5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720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6DD740-B08A-40ED-B7DC-A561EFA92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05400"/>
            <a:ext cx="895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source 修改后必须 pmw-build-plugin 同步插件副本。</a:t>
            </a:r>
          </a:p>
        </p:txBody>
      </p:sp>
    </p:spTree>
    <p:extLst>
      <p:ext uri="{BB962C8B-B14F-4D97-AF65-F5344CB8AC3E}">
        <p14:creationId xmlns:p14="http://schemas.microsoft.com/office/powerpoint/2010/main" val="187543848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20226A-3417-4D9A-BC06-CFA99AC7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F7F8F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A864CF-4188-41D0-A0E5-AE1AFDF71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FIXES LANDED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A2CEBB-62EC-42B3-B92C-CB5B16A5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修规则，更要修真源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65DEA7-24BF-431E-A32F-0C16683F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876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D1-D17 已处理，当前重点是防止旧锚点回流。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43863A-F416-4CCB-8306-9E01180CF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9EF"/>
          </a:solidFill>
          <a:ln xmlns:a="http://schemas.openxmlformats.org/drawingml/2006/main" w="0">
            <a:solidFill>
              <a:srgbClr val="E6E9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25BFF3-10C1-4DDE-B936-24BC5D79A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94A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4A3"/>
                </a:solidFill>
                <a:latin typeface="Aptos"/>
                <a:ea typeface="Aptos"/>
                <a:cs typeface="Aptos"/>
              </a:rPr>
              <a:t>PMWorkspace 运行逻辑与瘦身审计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090B33-C1B3-4E94-B4A9-12D406C45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A94A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4A3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B76976-C78B-44A7-BC97-412FD711F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3143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FAE57A-37CD-4039-97A8-63844EA7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57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EF444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82A71D-2900-4A99-91CC-2E640957D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6695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F4444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EF4444"/>
                </a:solidFill>
                <a:latin typeface="Aptos Display"/>
                <a:ea typeface="Aptos Display"/>
                <a:cs typeface="Aptos Display"/>
              </a:rPr>
              <a:t>入口口径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632E71-B499-4DE2-AC75-03E9BEE9D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28900"/>
            <a:ext cx="28003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已改成 PM brief + local-first / Zoon A/B。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44F67D-5555-4A51-B1A9-385D12058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95500"/>
            <a:ext cx="3143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294E9F-4629-4BE9-8184-4836B8699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95500"/>
            <a:ext cx="57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90DE1E-23BF-47E4-A01A-BE57843E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6695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97316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97316"/>
                </a:solidFill>
                <a:latin typeface="Aptos Display"/>
                <a:ea typeface="Aptos Display"/>
                <a:cs typeface="Aptos Display"/>
              </a:rPr>
              <a:t>长板真源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59FE75-7A3B-447B-B33C-41671E50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628900"/>
            <a:ext cx="28003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prompt 真源和 output unit 真源已分离。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06335C-137A-4C03-8028-C33FE8B9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3143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5A84E9-DD8A-4618-9225-179EB1DB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57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515599-9BFD-427F-AEA5-B26C38273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6695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C3AED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7C3AED"/>
                </a:solidFill>
                <a:latin typeface="Aptos Display"/>
                <a:ea typeface="Aptos Display"/>
                <a:cs typeface="Aptos Display"/>
              </a:rPr>
              <a:t>生成契约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09C6C9-37B1-4E91-B88C-EE3AD0CF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28900"/>
            <a:ext cx="28003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shared gates 由 manifest 压缩输出，eval 保持硬断言。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CC66EC-E9F6-46ED-84D4-12A20178C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00625"/>
            <a:ext cx="914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补强：画布模板已拆成互斥模式，避免 402 x 874 和物理长板同场出现。</a:t>
            </a:r>
          </a:p>
        </p:txBody>
      </p:sp>
    </p:spTree>
    <p:extLst>
      <p:ext uri="{BB962C8B-B14F-4D97-AF65-F5344CB8AC3E}">
        <p14:creationId xmlns:p14="http://schemas.microsoft.com/office/powerpoint/2010/main" val="133742663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B2E4EE-410D-4348-BC8F-4CF9287F5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F7F8F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24D75C-C155-40EB-B4E8-749FDC0DB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GUARDRAILS NEXT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2330B3-AD40-4D76-9AC7-0B0082BA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不要让旧锚点回来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83BF37-F2BB-4325-9EF7-3815E5944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876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后续从新的 D18+ 审计开始，不沿用旧待办。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C4D60E-DED7-4DD8-83BD-046660A1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9EF"/>
          </a:solidFill>
          <a:ln xmlns:a="http://schemas.openxmlformats.org/drawingml/2006/main" w="0">
            <a:solidFill>
              <a:srgbClr val="E6E9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72F73B-FB3C-41B4-969D-2E3724F01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94A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4A3"/>
                </a:solidFill>
                <a:latin typeface="Aptos"/>
                <a:ea typeface="Aptos"/>
                <a:cs typeface="Aptos"/>
              </a:rPr>
              <a:t>PMWorkspace 运行逻辑与瘦身审计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10DA76-719F-4211-94E0-255323515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A94A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4A3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51E1AB-7E93-4878-8C2C-A016E716D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43125"/>
            <a:ext cx="4381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5B8608-8306-499D-8BCF-0DA6DD402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43125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8FEFFB-5B1D-49F4-8F2B-8DF1F77FF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14575"/>
            <a:ext cx="403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B981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0B981"/>
                </a:solidFill>
                <a:latin typeface="Aptos Display"/>
                <a:ea typeface="Aptos Display"/>
                <a:cs typeface="Aptos Display"/>
              </a:rPr>
              <a:t>运行门槛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729C7E-0B52-4980-8A33-37E741523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76525"/>
            <a:ext cx="40386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discovery gate 继续挡住一个 Q/D 后已对齐</a:t>
            </a:r>
          </a:p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prompt check 继续挡住短画布锚点</a:t>
            </a:r>
          </a:p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image audit 继续阻断不合格长板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6BD920-1C28-4E7C-A666-6096AB51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43125"/>
            <a:ext cx="4381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BF8722-8EB9-4D6E-8D31-7800DFA5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43125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2E8765-DB5A-472E-91B9-84F9F9685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14575"/>
            <a:ext cx="403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发布纪律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8914D9-F115-47F3-8F9C-50C3B170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76525"/>
            <a:ext cx="40386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source / references / bin / eval 改动后必须 build plugin</a:t>
            </a:r>
          </a:p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artifact-only commit 不刷新 plugin REVISION</a:t>
            </a:r>
          </a:p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PPTX、讲稿和审计报告作为交付物纳入版本控制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56B030-1BB6-466B-B257-A8FB4B853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143500"/>
            <a:ext cx="962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下一步：重新审计新的高噪声项，再制定 D18+ 小步计划。</a:t>
            </a:r>
          </a:p>
        </p:txBody>
      </p:sp>
    </p:spTree>
    <p:extLst>
      <p:ext uri="{BB962C8B-B14F-4D97-AF65-F5344CB8AC3E}">
        <p14:creationId xmlns:p14="http://schemas.microsoft.com/office/powerpoint/2010/main" val="9818035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2026-05-09T13:26:15.1630000Z</dcterms:created>
  <dcterms:modified xsi:type="dcterms:W3CDTF">2026-05-09T13:26:15.1630000Z</dcterms:modified>
</coreProperties>
</file>